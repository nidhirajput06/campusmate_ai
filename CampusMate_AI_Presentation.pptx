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731520"/>
            <a:ext cx="2926080" cy="320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7C3AED"/>
                </a:solidFill>
                <a:latin typeface="Arial"/>
              </a:defRPr>
            </a:pPr>
            <a:r>
              <a:t>SMART INDIA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9436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  <a:defRPr sz="4600" b="1">
                <a:solidFill>
                  <a:srgbClr val="7C3AED"/>
                </a:solidFill>
                <a:latin typeface="Arial"/>
              </a:defRPr>
            </a:pPr>
            <a:r>
              <a:t>CampusMate AI</a:t>
            </a:r>
          </a:p>
          <a:p>
            <a:pPr>
              <a:spcAft>
                <a:spcPts val="1200"/>
              </a:spcAft>
              <a:defRPr sz="1800" b="1">
                <a:solidFill>
                  <a:srgbClr val="1E293B"/>
                </a:solidFill>
                <a:latin typeface="Arial"/>
              </a:defRPr>
            </a:pPr>
            <a:r>
              <a:t>Smart Campus Navigation &amp; Student Assistant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51760"/>
            <a:ext cx="5486400" cy="36576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834640"/>
            <a:ext cx="548640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  <a:defRPr sz="1300" b="0">
                <a:solidFill>
                  <a:srgbClr val="7C3AED"/>
                </a:solidFill>
                <a:latin typeface="Arial"/>
              </a:defRPr>
            </a:pPr>
            <a:r>
              <a:t>One intelligent platform for campus navigation, student assistance, and campus transport.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57600"/>
            <a:ext cx="548640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749039"/>
            <a:ext cx="512064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PROBLEM STATEMENT ID</a:t>
            </a:r>
          </a:p>
          <a:p>
            <a:pPr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SIH-2026-CAMPUSMATE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PROBLEM STATEMENT TITLE</a:t>
            </a:r>
          </a:p>
          <a:p>
            <a:pPr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AI-Powered Smart Campus Navigation &amp; Transport Companion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THEME &amp; CATEGORY</a:t>
            </a:r>
          </a:p>
          <a:p>
            <a:pPr>
              <a:spcAft>
                <a:spcPts val="1000"/>
              </a:spcAft>
              <a:defRPr sz="1200" b="1">
                <a:solidFill>
                  <a:srgbClr val="1E293B"/>
                </a:solidFill>
                <a:latin typeface="Arial"/>
              </a:defRPr>
            </a:pPr>
            <a:r>
              <a:t>Smart Education / Institutional Systems | Software</a:t>
            </a:r>
          </a:p>
          <a:p>
            <a:pPr>
              <a:spcAft>
                <a:spcPts val="200"/>
              </a:spcAft>
              <a:defRPr sz="900" b="1">
                <a:solidFill>
                  <a:srgbClr val="64748B"/>
                </a:solidFill>
                <a:latin typeface="Arial"/>
              </a:defRPr>
            </a:pPr>
            <a:r>
              <a:t>TEAM ID &amp; TEAM NAME</a:t>
            </a:r>
          </a:p>
          <a:p>
            <a:pPr>
              <a:spcAft>
                <a:spcPts val="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9826585201 | Barbie Squad</a:t>
            </a:r>
          </a:p>
        </p:txBody>
      </p:sp>
      <p:pic>
        <p:nvPicPr>
          <p:cNvPr id="9" name="Picture 8" descr="lnct_monsoon_camp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029200" cy="4754880"/>
          </a:xfrm>
          <a:prstGeom prst="rect">
            <a:avLst/>
          </a:prstGeom>
        </p:spPr>
      </p:pic>
      <p:pic>
        <p:nvPicPr>
          <p:cNvPr id="10" name="Picture 9" descr="lnct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32004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603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A580C"/>
                </a:solidFill>
                <a:latin typeface="Arial"/>
              </a:defRPr>
            </a:pPr>
            <a:r>
              <a:t>THE CHALLENGE &amp; 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Proposed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EF4444"/>
                </a:solidFill>
                <a:latin typeface="Arial"/>
              </a:defRPr>
            </a:pPr>
            <a:r>
              <a:t>Traditional Campus Challenges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  <a:latin typeface="Arial"/>
              </a:defRPr>
            </a:pPr>
            <a:r>
              <a:t>- Information Fragmentation: Bus schedules, directories, and notices are scattered across static PDFs and bulletin boards.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  <a:latin typeface="Arial"/>
              </a:defRPr>
            </a:pPr>
            <a:r>
              <a:t>- Navigation Hurdles: Visitors and new students struggle to find lecture halls, admin blocks, and facilities inside massive campuses.</a:t>
            </a:r>
          </a:p>
          <a:p>
            <a:pPr>
              <a:spcAft>
                <a:spcPts val="1000"/>
              </a:spcAft>
              <a:defRPr sz="1200" b="0">
                <a:solidFill>
                  <a:srgbClr val="1E293B"/>
                </a:solidFill>
                <a:latin typeface="Arial"/>
              </a:defRPr>
            </a:pPr>
            <a:r>
              <a:t>- Transit Uncertainty: Lack of active timetable tracking or simulated progress leads to bus stop waiting anxiety.</a:t>
            </a:r>
          </a:p>
          <a:p>
            <a:pPr>
              <a:spcAft>
                <a:spcPts val="0"/>
              </a:spcAft>
              <a:defRPr sz="1200" b="0">
                <a:solidFill>
                  <a:srgbClr val="1E293B"/>
                </a:solidFill>
                <a:latin typeface="Arial"/>
              </a:defRPr>
            </a:pPr>
            <a:r>
              <a:t>- Support Delays: Simple academic queries require physical registration desk visits, causing time inefficiencies.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Proposed Unified Platform Solution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  <a:latin typeface="Arial"/>
              </a:defRPr>
            </a:pPr>
            <a:r>
              <a:t>- Smart Navigation: 3D vector map with route guidance to major buildings.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  <a:latin typeface="Arial"/>
              </a:defRPr>
            </a:pPr>
            <a:r>
              <a:t>- Simulated Bus Tracking: Stop timelines, shift filters, and live ETAs.</a:t>
            </a:r>
          </a:p>
          <a:p>
            <a:pPr>
              <a:spcAft>
                <a:spcPts val="600"/>
              </a:spcAft>
              <a:defRPr sz="1150" b="0">
                <a:solidFill>
                  <a:srgbClr val="1E293B"/>
                </a:solidFill>
                <a:latin typeface="Arial"/>
              </a:defRPr>
            </a:pPr>
            <a:r>
              <a:t>- Contextual AI Assistant: Multi-branch query responses backed by data.</a:t>
            </a:r>
          </a:p>
          <a:p>
            <a:pPr>
              <a:spcAft>
                <a:spcPts val="0"/>
              </a:spcAft>
              <a:defRPr sz="1150" b="0">
                <a:solidFill>
                  <a:srgbClr val="1E293B"/>
                </a:solidFill>
                <a:latin typeface="Arial"/>
              </a:defRPr>
            </a:pPr>
            <a:r>
              <a:t>- Explore Gallery: Integrated photo catalog mapping assets to blocks.</a:t>
            </a:r>
          </a:p>
        </p:txBody>
      </p:sp>
      <p:pic>
        <p:nvPicPr>
          <p:cNvPr id="9" name="Picture 8" descr="lnct_monsoon_campu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931920"/>
            <a:ext cx="502920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603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A580C"/>
                </a:solidFill>
                <a:latin typeface="Arial"/>
              </a:defRPr>
            </a:pPr>
            <a:r>
              <a:t>SYSTEM ARCHITECTURE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8229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User Interface Layer (Mobile-First Viewports)</a:t>
            </a:r>
          </a:p>
          <a:p>
            <a:pPr>
              <a:spcAft>
                <a:spcPts val="0"/>
              </a:spcAft>
              <a:defRPr sz="950" b="0">
                <a:solidFill>
                  <a:srgbClr val="FFFFFF"/>
                </a:solidFill>
                <a:latin typeface="Arial"/>
              </a:defRPr>
            </a:pPr>
            <a:r>
              <a:t>HTML5 | Vanilla CSS | HSL Theme Colors | Responsive Breakpoints (320px-430px)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68880"/>
            <a:ext cx="5303520" cy="10972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493776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Frontend Interface &amp; Module Controllers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MapPage: Vector layouts, path highlighting, and photo overlay triggers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BusTracking: Decoupled simulation clock, progress calculations, and ETAs</a:t>
            </a:r>
          </a:p>
          <a:p>
            <a:pPr>
              <a:spcAft>
                <a:spcPts val="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Departments: Tabbed academic directories with search indices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530352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493776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Mathematical &amp; Local Logic Services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Haversine Distance Formula: Dynamic telemetry distance in kilometers</a:t>
            </a:r>
          </a:p>
          <a:p>
            <a:pPr>
              <a:spcAft>
                <a:spcPts val="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Simulation Clock Engine: Progression intervals for mockup GPS coordinates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5303520" cy="128016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029200"/>
            <a:ext cx="493776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Factual Structured Database Layer (Local JS Modules)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campusData.js: Location aliases, verified stop grids, schedules</a:t>
            </a:r>
          </a:p>
          <a:p>
            <a:pPr>
              <a:spcAft>
                <a:spcPts val="200"/>
              </a:spcAft>
              <a:defRPr sz="950" b="0">
                <a:solidFill>
                  <a:srgbClr val="1E293B"/>
                </a:solidFill>
                <a:latin typeface="Arial"/>
              </a:defRPr>
            </a:pPr>
            <a:r>
              <a:t>- academicData.js: 17 schools and their respective course lists</a:t>
            </a:r>
          </a:p>
          <a:p>
            <a:pPr>
              <a:spcAft>
                <a:spcPts val="0"/>
              </a:spcAft>
              <a:defRPr sz="950" b="1">
                <a:solidFill>
                  <a:srgbClr val="EA580C"/>
                </a:solidFill>
                <a:latin typeface="Arial"/>
              </a:defRPr>
            </a:pPr>
            <a:r>
              <a:t>- Future Live GPS: Hardware GPS -&gt; REST APIs -&gt; Client WebSockets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5544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Verified Technology Stack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Languages</a:t>
            </a:r>
          </a:p>
          <a:p>
            <a:pPr>
              <a:spcAft>
                <a:spcPts val="10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ES6+ JavaScript, HTML5, CSS3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Frontend Library &amp; Build Tools</a:t>
            </a:r>
          </a:p>
          <a:p>
            <a:pPr>
              <a:spcAft>
                <a:spcPts val="10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React 19 (Hooks, Context), Vite 8 (Hot Module Replacement)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Map Library &amp; Tiles</a:t>
            </a:r>
          </a:p>
          <a:p>
            <a:pPr>
              <a:spcAft>
                <a:spcPts val="10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Leaflet JS 1.9.4 | OpenStreetMap Tile Servers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Linting &amp; Code Quality</a:t>
            </a:r>
          </a:p>
          <a:p>
            <a:pPr>
              <a:spcAft>
                <a:spcPts val="10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Oxlint Linter (Zero warnings, zero errors compile)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Data Architecture</a:t>
            </a:r>
          </a:p>
          <a:p>
            <a:pPr>
              <a:spcAft>
                <a:spcPts val="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Local client JS data modules for instant, offline-ready queries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603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A580C"/>
                </a:solidFill>
                <a:latin typeface="Arial"/>
              </a:defRPr>
            </a:pPr>
            <a:r>
              <a:t>IMPLEMENTATION &amp; RISK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Feasibility &amp;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Feasibility Assessment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Technical Feasibility</a:t>
            </a:r>
          </a:p>
          <a:p>
            <a:pPr>
              <a:spcAft>
                <a:spcPts val="4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Lightweight client-side build requires no heavy database servers.</a:t>
            </a:r>
          </a:p>
          <a:p>
            <a:pPr>
              <a:spcAft>
                <a:spcPts val="8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Leaflet maps run smoothly on budget mobile processors.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Operational Feasibility</a:t>
            </a:r>
          </a:p>
          <a:p>
            <a:pPr>
              <a:spcAft>
                <a:spcPts val="4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Transport coordinators can update bus schedules easily via campusData.js.</a:t>
            </a:r>
          </a:p>
          <a:p>
            <a:pPr>
              <a:spcAft>
                <a:spcPts val="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Standardised UI is user-friendly for all university stakeholders.</a:t>
            </a:r>
          </a:p>
        </p:txBody>
      </p:sp>
      <p:pic>
        <p:nvPicPr>
          <p:cNvPr id="7" name="Picture 6" descr="lnct_g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14800"/>
            <a:ext cx="4937760" cy="19202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Risk &amp; Mitigation Matrix</a:t>
            </a:r>
          </a:p>
          <a:p>
            <a:pPr>
              <a:spcAft>
                <a:spcPts val="2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1. Inaccurate timing ETAs due to traffic</a:t>
            </a:r>
          </a:p>
          <a:p>
            <a:pPr>
              <a:spcAft>
                <a:spcPts val="1000"/>
              </a:spcAft>
              <a:defRPr sz="1050" b="0">
                <a:solidFill>
                  <a:srgbClr val="64748B"/>
                </a:solidFill>
                <a:latin typeface="Arial"/>
              </a:defRPr>
            </a:pPr>
            <a:r>
              <a:t>  - Mitigation: Haversine distance telemetry shows actual physical distances.</a:t>
            </a:r>
          </a:p>
          <a:p>
            <a:pPr>
              <a:spcAft>
                <a:spcPts val="2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2. GPS loss inside structures/basements</a:t>
            </a:r>
          </a:p>
          <a:p>
            <a:pPr>
              <a:spcAft>
                <a:spcPts val="1000"/>
              </a:spcAft>
              <a:defRPr sz="1050" b="0">
                <a:solidFill>
                  <a:srgbClr val="64748B"/>
                </a:solidFill>
                <a:latin typeface="Arial"/>
              </a:defRPr>
            </a:pPr>
            <a:r>
              <a:t>  - Mitigation: Fallback stop-to-stop simulation clock interpolation.</a:t>
            </a:r>
          </a:p>
          <a:p>
            <a:pPr>
              <a:spcAft>
                <a:spcPts val="200"/>
              </a:spcAft>
              <a:defRPr sz="1100" b="1">
                <a:solidFill>
                  <a:srgbClr val="1E293B"/>
                </a:solidFill>
                <a:latin typeface="Arial"/>
              </a:defRPr>
            </a:pPr>
            <a:r>
              <a:t>3. Offline access constraints</a:t>
            </a:r>
          </a:p>
          <a:p>
            <a:pPr>
              <a:spcAft>
                <a:spcPts val="1200"/>
              </a:spcAft>
              <a:defRPr sz="1050" b="0">
                <a:solidFill>
                  <a:srgbClr val="64748B"/>
                </a:solidFill>
                <a:latin typeface="Arial"/>
              </a:defRPr>
            </a:pPr>
            <a:r>
              <a:t>  - Mitigation: Pre-bundled local JS data runs without network connection.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Platform Limitations</a:t>
            </a:r>
          </a:p>
          <a:p>
            <a:pPr>
              <a:spcAft>
                <a:spcPts val="400"/>
              </a:spcAft>
              <a:defRPr sz="1050" b="0">
                <a:solidFill>
                  <a:srgbClr val="1E293B"/>
                </a:solidFill>
                <a:latin typeface="Arial"/>
              </a:defRPr>
            </a:pPr>
            <a:r>
              <a:t>  - OpenStreetMap tiles require active internet connection to load.</a:t>
            </a:r>
          </a:p>
          <a:p>
            <a:pPr>
              <a:spcAft>
                <a:spcPts val="0"/>
              </a:spcAft>
              <a:defRPr sz="1050" b="0">
                <a:solidFill>
                  <a:srgbClr val="1E293B"/>
                </a:solidFill>
                <a:latin typeface="Arial"/>
              </a:defRPr>
            </a:pPr>
            <a:r>
              <a:t>  - Real-time GPS tracking is simulated; hardware device installs on buses are required for live telemetry deployment.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603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A580C"/>
                </a:solidFill>
                <a:latin typeface="Arial"/>
              </a:defRPr>
            </a:pPr>
            <a:r>
              <a:t>VALUE PROPOSITION &amp; USER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Impact &amp; Benefits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Ecosystem Benefits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Students</a:t>
            </a:r>
          </a:p>
          <a:p>
            <a:pPr>
              <a:spcAft>
                <a:spcPts val="8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Zero transit anxiety, immediate room directions, fast academic search.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Administration</a:t>
            </a:r>
          </a:p>
          <a:p>
            <a:pPr>
              <a:spcAft>
                <a:spcPts val="8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Modernised digital catalog, simplified student onboarding.</a:t>
            </a:r>
          </a:p>
          <a:p>
            <a:pPr>
              <a:spcAft>
                <a:spcPts val="2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Transport Team</a:t>
            </a:r>
          </a:p>
          <a:p>
            <a:pPr>
              <a:spcAft>
                <a:spcPts val="12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Operational timing checks and clear stop-level visualizations.</a:t>
            </a:r>
          </a:p>
          <a:p>
            <a:pPr>
              <a:spcAft>
                <a:spcPts val="400"/>
              </a:spcAft>
              <a:defRPr sz="1200" b="1">
                <a:solidFill>
                  <a:srgbClr val="7C3AED"/>
                </a:solidFill>
                <a:latin typeface="Arial"/>
              </a:defRPr>
            </a:pPr>
            <a:r>
              <a:t>Unique Value Proposition</a:t>
            </a:r>
          </a:p>
          <a:p>
            <a:pPr>
              <a:spcAft>
                <a:spcPts val="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Replacing scattered PDF timetables, static maps, and directories with a single, mobile-responsive campus companion.</a:t>
            </a:r>
          </a:p>
        </p:txBody>
      </p:sp>
      <p:pic>
        <p:nvPicPr>
          <p:cNvPr id="7" name="Picture 6" descr="lnct_libra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0"/>
            <a:ext cx="4937760" cy="14630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Credible Feature Comparison Matrix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2103120"/>
          <a:ext cx="50292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Feature Capability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Generic Maps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Web Portals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CampusMate AI</a:t>
                      </a:r>
                    </a:p>
                  </a:txBody>
                  <a:tcPr>
                    <a:solidFill>
                      <a:srgbClr val="7C3AE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Building Search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Bus Tracking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static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Timetable ETAs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static PDF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Contextual 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Explore Gallery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no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1E293B"/>
                          </a:solidFill>
                          <a:latin typeface="Arial"/>
                        </a:defRPr>
                      </a:pPr>
                      <a:r>
                        <a:t>Mobile Layout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64748B"/>
                          </a:solidFill>
                          <a:latin typeface="Arial"/>
                        </a:defRPr>
                      </a:pPr>
                      <a:r>
                        <a:t>limited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A580C"/>
                          </a:solidFill>
                          <a:latin typeface="Arial"/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65760"/>
            <a:ext cx="2560320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EA580C"/>
                </a:solidFill>
                <a:latin typeface="Arial"/>
              </a:defRPr>
            </a:pPr>
            <a:r>
              <a:t>BIBLIOGRAPHY &amp; DEPLOYMENT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293B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93776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Bibliographical References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1. Institutional Information</a:t>
            </a:r>
          </a:p>
          <a:p>
            <a:pPr>
              <a:spcAft>
                <a:spcPts val="4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LNCT University Transport Department stop timing datasets.</a:t>
            </a:r>
          </a:p>
          <a:p>
            <a:pPr>
              <a:spcAft>
                <a:spcPts val="12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LNCT 360 Degree Virtual Tour directories and maps.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2. Technical Specifications &amp; APIs</a:t>
            </a:r>
          </a:p>
          <a:p>
            <a:pPr>
              <a:spcAft>
                <a:spcPts val="4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Leaflet API documentation for markers, routing, and layer controls.</a:t>
            </a:r>
          </a:p>
          <a:p>
            <a:pPr>
              <a:spcAft>
                <a:spcPts val="4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OpenStreetMap Foundation map tile rendering server guidelines.</a:t>
            </a:r>
          </a:p>
          <a:p>
            <a:pPr>
              <a:spcAft>
                <a:spcPts val="120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React 19 component lifecycle rendering paradigms and Vite documentation.</a:t>
            </a:r>
          </a:p>
          <a:p>
            <a:pPr>
              <a:spcAft>
                <a:spcPts val="400"/>
              </a:spcAft>
              <a:defRPr sz="1200" b="1">
                <a:solidFill>
                  <a:srgbClr val="EA580C"/>
                </a:solidFill>
                <a:latin typeface="Arial"/>
              </a:defRPr>
            </a:pPr>
            <a:r>
              <a:t>3. Mathematical Standards</a:t>
            </a:r>
          </a:p>
          <a:p>
            <a:pPr>
              <a:spcAft>
                <a:spcPts val="0"/>
              </a:spcAft>
              <a:defRPr sz="1100" b="0">
                <a:solidFill>
                  <a:srgbClr val="1E293B"/>
                </a:solidFill>
                <a:latin typeface="Arial"/>
              </a:defRPr>
            </a:pPr>
            <a:r>
              <a:t>  - Haversine formula specifications for geographic telemetry over spheres.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7C3AED"/>
                </a:solidFill>
                <a:latin typeface="Arial"/>
              </a:defRPr>
            </a:pPr>
            <a:r>
              <a:t>Project Verification Links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GitHub Remote Repository</a:t>
            </a:r>
          </a:p>
          <a:p>
            <a:pPr>
              <a:spcAft>
                <a:spcPts val="800"/>
              </a:spcAft>
              <a:defRPr sz="1050" b="0">
                <a:solidFill>
                  <a:srgbClr val="1E293B"/>
                </a:solidFill>
                <a:latin typeface="Arial"/>
              </a:defRPr>
            </a:pPr>
            <a:r>
              <a:t>  - https://github.com/NidhiRajput06/Campusmate_ai</a:t>
            </a:r>
          </a:p>
          <a:p>
            <a:pPr>
              <a:spcAft>
                <a:spcPts val="200"/>
              </a:spcAft>
              <a:defRPr sz="1100" b="1">
                <a:solidFill>
                  <a:srgbClr val="EA580C"/>
                </a:solidFill>
                <a:latin typeface="Arial"/>
              </a:defRPr>
            </a:pPr>
            <a:r>
              <a:t>Active Local Wi-Fi Server Link</a:t>
            </a:r>
          </a:p>
          <a:p>
            <a:pPr>
              <a:spcAft>
                <a:spcPts val="0"/>
              </a:spcAft>
              <a:defRPr sz="1050" b="0">
                <a:solidFill>
                  <a:srgbClr val="1E293B"/>
                </a:solidFill>
                <a:latin typeface="Arial"/>
              </a:defRPr>
            </a:pPr>
            <a:r>
              <a:t>  - http://192.168.1.9:5173/  (Exposed on Wi-Fi for mobile)</a:t>
            </a:r>
          </a:p>
        </p:txBody>
      </p:sp>
      <p:pic>
        <p:nvPicPr>
          <p:cNvPr id="9" name="Picture 8" descr="lnct_campus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291840"/>
            <a:ext cx="5029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